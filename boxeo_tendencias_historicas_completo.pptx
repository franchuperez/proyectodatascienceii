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7" r:id="rId10"/>
    <p:sldId id="268" r:id="rId11"/>
    <p:sldId id="269" r:id="rId12"/>
    <p:sldId id="265" r:id="rId13"/>
    <p:sldId id="266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25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Combates</c:v>
                </c:pt>
              </c:strCache>
            </c:strRef>
          </c:tx>
          <c:spPr>
            <a:solidFill>
              <a:srgbClr val="C0392B"/>
            </a:solidFill>
          </c:spPr>
          <c:invertIfNegative val="1"/>
          <c:cat>
            <c:strRef>
              <c:f>Sheet1!$A$2:$A$12</c:f>
              <c:strCache>
                <c:ptCount val="11"/>
                <c:pt idx="0">
                  <c:v>1920s</c:v>
                </c:pt>
                <c:pt idx="1">
                  <c:v>1930s</c:v>
                </c:pt>
                <c:pt idx="2">
                  <c:v>1940s</c:v>
                </c:pt>
                <c:pt idx="3">
                  <c:v>1950s</c:v>
                </c:pt>
                <c:pt idx="4">
                  <c:v>1960s</c:v>
                </c:pt>
                <c:pt idx="5">
                  <c:v>1970s</c:v>
                </c:pt>
                <c:pt idx="6">
                  <c:v>1980s</c:v>
                </c:pt>
                <c:pt idx="7">
                  <c:v>1990s</c:v>
                </c:pt>
                <c:pt idx="8">
                  <c:v>2000s</c:v>
                </c:pt>
                <c:pt idx="9">
                  <c:v>2010s</c:v>
                </c:pt>
                <c:pt idx="10">
                  <c:v>2020s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400</c:v>
                </c:pt>
                <c:pt idx="1">
                  <c:v>500</c:v>
                </c:pt>
                <c:pt idx="2">
                  <c:v>700</c:v>
                </c:pt>
                <c:pt idx="3">
                  <c:v>900</c:v>
                </c:pt>
                <c:pt idx="4">
                  <c:v>1000</c:v>
                </c:pt>
                <c:pt idx="5">
                  <c:v>1100</c:v>
                </c:pt>
                <c:pt idx="6">
                  <c:v>1200</c:v>
                </c:pt>
                <c:pt idx="7">
                  <c:v>1300</c:v>
                </c:pt>
                <c:pt idx="8">
                  <c:v>1200</c:v>
                </c:pt>
                <c:pt idx="9">
                  <c:v>1100</c:v>
                </c:pt>
                <c:pt idx="10">
                  <c:v>600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C78-4B74-B4C3-74D6F2E3B3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s-419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s-419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s-419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title>
      <c:tx>
        <c:rich>
          <a:bodyPr/>
          <a:lstStyle/>
          <a:p>
            <a:pPr>
              <a:defRPr sz="1300"/>
            </a:pPr>
            <a:r>
              <a:t>Distribución Global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cat>
            <c:strRef>
              <c:f>Sheet1!$A$2:$A$6</c:f>
              <c:strCache>
                <c:ptCount val="5"/>
                <c:pt idx="0">
                  <c:v>KO</c:v>
                </c:pt>
                <c:pt idx="1">
                  <c:v>TKO</c:v>
                </c:pt>
                <c:pt idx="2">
                  <c:v>Dec. Unánime</c:v>
                </c:pt>
                <c:pt idx="3">
                  <c:v>Dec. Dividida</c:v>
                </c:pt>
                <c:pt idx="4">
                  <c:v>Desc. / S.C.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</c:v>
                </c:pt>
                <c:pt idx="1">
                  <c:v>18</c:v>
                </c:pt>
                <c:pt idx="2">
                  <c:v>38</c:v>
                </c:pt>
                <c:pt idx="3">
                  <c:v>16</c:v>
                </c:pt>
                <c:pt idx="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51-47B1-8431-2E6AD2AA78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s-419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/>
            </a:pPr>
            <a:r>
              <a:t>Evolución % por Tipo de Victoria</a:t>
            </a:r>
          </a:p>
        </c:rich>
      </c:tx>
      <c:overlay val="0"/>
    </c:title>
    <c:autoTitleDeleted val="0"/>
    <c:plotArea>
      <c:layout/>
      <c:barChart>
        <c:barDir val="bar"/>
        <c:grouping val="percent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KO / TKO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1920s</c:v>
                </c:pt>
                <c:pt idx="1">
                  <c:v>1940s</c:v>
                </c:pt>
                <c:pt idx="2">
                  <c:v>1960s</c:v>
                </c:pt>
                <c:pt idx="3">
                  <c:v>1980s</c:v>
                </c:pt>
                <c:pt idx="4">
                  <c:v>2000s</c:v>
                </c:pt>
                <c:pt idx="5">
                  <c:v>2020s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55</c:v>
                </c:pt>
                <c:pt idx="1">
                  <c:v>48</c:v>
                </c:pt>
                <c:pt idx="2">
                  <c:v>42</c:v>
                </c:pt>
                <c:pt idx="3">
                  <c:v>36</c:v>
                </c:pt>
                <c:pt idx="4">
                  <c:v>30</c:v>
                </c:pt>
                <c:pt idx="5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0F-41D6-975C-7C8F9D7C557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Decisión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1920s</c:v>
                </c:pt>
                <c:pt idx="1">
                  <c:v>1940s</c:v>
                </c:pt>
                <c:pt idx="2">
                  <c:v>1960s</c:v>
                </c:pt>
                <c:pt idx="3">
                  <c:v>1980s</c:v>
                </c:pt>
                <c:pt idx="4">
                  <c:v>2000s</c:v>
                </c:pt>
                <c:pt idx="5">
                  <c:v>2020s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38</c:v>
                </c:pt>
                <c:pt idx="1">
                  <c:v>44</c:v>
                </c:pt>
                <c:pt idx="2">
                  <c:v>50</c:v>
                </c:pt>
                <c:pt idx="3">
                  <c:v>56</c:v>
                </c:pt>
                <c:pt idx="4">
                  <c:v>62</c:v>
                </c:pt>
                <c:pt idx="5">
                  <c:v>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20F-41D6-975C-7C8F9D7C557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Otro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1920s</c:v>
                </c:pt>
                <c:pt idx="1">
                  <c:v>1940s</c:v>
                </c:pt>
                <c:pt idx="2">
                  <c:v>1960s</c:v>
                </c:pt>
                <c:pt idx="3">
                  <c:v>1980s</c:v>
                </c:pt>
                <c:pt idx="4">
                  <c:v>2000s</c:v>
                </c:pt>
                <c:pt idx="5">
                  <c:v>2020s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7</c:v>
                </c:pt>
                <c:pt idx="1">
                  <c:v>8</c:v>
                </c:pt>
                <c:pt idx="2">
                  <c:v>8</c:v>
                </c:pt>
                <c:pt idx="3">
                  <c:v>8</c:v>
                </c:pt>
                <c:pt idx="4">
                  <c:v>8</c:v>
                </c:pt>
                <c:pt idx="5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0F-41D6-975C-7C8F9D7C55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0%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s-419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Combates</c:v>
                </c:pt>
              </c:strCache>
            </c:strRef>
          </c:tx>
          <c:spPr>
            <a:solidFill>
              <a:srgbClr val="2980B9"/>
            </a:solidFill>
          </c:spPr>
          <c:invertIfNegative val="1"/>
          <c:cat>
            <c:strRef>
              <c:f>Sheet1!$A$2:$A$14</c:f>
              <c:strCache>
                <c:ptCount val="13"/>
                <c:pt idx="0">
                  <c:v>Welter</c:v>
                </c:pt>
                <c:pt idx="1">
                  <c:v>Mediano</c:v>
                </c:pt>
                <c:pt idx="2">
                  <c:v>Ligero</c:v>
                </c:pt>
                <c:pt idx="3">
                  <c:v>Completo</c:v>
                </c:pt>
                <c:pt idx="4">
                  <c:v>Super Welter</c:v>
                </c:pt>
                <c:pt idx="5">
                  <c:v>Super Mediano</c:v>
                </c:pt>
                <c:pt idx="6">
                  <c:v>Super Ligero</c:v>
                </c:pt>
                <c:pt idx="7">
                  <c:v>Semicompleto</c:v>
                </c:pt>
                <c:pt idx="8">
                  <c:v>Pluma</c:v>
                </c:pt>
                <c:pt idx="9">
                  <c:v>Super Pluma</c:v>
                </c:pt>
                <c:pt idx="10">
                  <c:v>Gallo</c:v>
                </c:pt>
                <c:pt idx="11">
                  <c:v>Mosca</c:v>
                </c:pt>
                <c:pt idx="12">
                  <c:v>Minimosca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1100</c:v>
                </c:pt>
                <c:pt idx="1">
                  <c:v>1000</c:v>
                </c:pt>
                <c:pt idx="2">
                  <c:v>1000</c:v>
                </c:pt>
                <c:pt idx="3">
                  <c:v>800</c:v>
                </c:pt>
                <c:pt idx="4">
                  <c:v>900</c:v>
                </c:pt>
                <c:pt idx="5">
                  <c:v>900</c:v>
                </c:pt>
                <c:pt idx="6">
                  <c:v>800</c:v>
                </c:pt>
                <c:pt idx="7">
                  <c:v>700</c:v>
                </c:pt>
                <c:pt idx="8">
                  <c:v>700</c:v>
                </c:pt>
                <c:pt idx="9">
                  <c:v>700</c:v>
                </c:pt>
                <c:pt idx="10">
                  <c:v>600</c:v>
                </c:pt>
                <c:pt idx="11">
                  <c:v>500</c:v>
                </c:pt>
                <c:pt idx="12">
                  <c:v>300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E4E-4477-9DB5-01752E6B6C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s-419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Victorias</c:v>
                </c:pt>
              </c:strCache>
            </c:strRef>
          </c:tx>
          <c:spPr>
            <a:solidFill>
              <a:srgbClr val="C0392B"/>
            </a:solidFill>
          </c:spPr>
          <c:invertIfNegative val="1"/>
          <c:cat>
            <c:strRef>
              <c:f>Sheet1!$A$2:$A$14</c:f>
              <c:strCache>
                <c:ptCount val="13"/>
                <c:pt idx="0">
                  <c:v>USA</c:v>
                </c:pt>
                <c:pt idx="1">
                  <c:v>México</c:v>
                </c:pt>
                <c:pt idx="2">
                  <c:v>UK</c:v>
                </c:pt>
                <c:pt idx="3">
                  <c:v>Argentina</c:v>
                </c:pt>
                <c:pt idx="4">
                  <c:v>Cuba</c:v>
                </c:pt>
                <c:pt idx="5">
                  <c:v>Filipinas</c:v>
                </c:pt>
                <c:pt idx="6">
                  <c:v>Puerto Rico</c:v>
                </c:pt>
                <c:pt idx="7">
                  <c:v>Japón</c:v>
                </c:pt>
                <c:pt idx="8">
                  <c:v>Alemania</c:v>
                </c:pt>
                <c:pt idx="9">
                  <c:v>Brasil</c:v>
                </c:pt>
                <c:pt idx="10">
                  <c:v>Kazajistán</c:v>
                </c:pt>
                <c:pt idx="11">
                  <c:v>Rusia</c:v>
                </c:pt>
                <c:pt idx="12">
                  <c:v>Australia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2200</c:v>
                </c:pt>
                <c:pt idx="1">
                  <c:v>1800</c:v>
                </c:pt>
                <c:pt idx="2">
                  <c:v>1200</c:v>
                </c:pt>
                <c:pt idx="3">
                  <c:v>700</c:v>
                </c:pt>
                <c:pt idx="4">
                  <c:v>600</c:v>
                </c:pt>
                <c:pt idx="5">
                  <c:v>500</c:v>
                </c:pt>
                <c:pt idx="6">
                  <c:v>500</c:v>
                </c:pt>
                <c:pt idx="7">
                  <c:v>500</c:v>
                </c:pt>
                <c:pt idx="8">
                  <c:v>400</c:v>
                </c:pt>
                <c:pt idx="9">
                  <c:v>400</c:v>
                </c:pt>
                <c:pt idx="10">
                  <c:v>400</c:v>
                </c:pt>
                <c:pt idx="11">
                  <c:v>400</c:v>
                </c:pt>
                <c:pt idx="12">
                  <c:v>400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5EA-416D-B7F2-47167C3DC0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s-419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Promedio de Rounds</c:v>
                </c:pt>
              </c:strCache>
            </c:strRef>
          </c:tx>
          <c:spPr>
            <a:ln w="38100">
              <a:solidFill>
                <a:srgbClr val="C0392B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1920s</c:v>
                </c:pt>
                <c:pt idx="1">
                  <c:v>1930s</c:v>
                </c:pt>
                <c:pt idx="2">
                  <c:v>1940s</c:v>
                </c:pt>
                <c:pt idx="3">
                  <c:v>1950s</c:v>
                </c:pt>
                <c:pt idx="4">
                  <c:v>1960s</c:v>
                </c:pt>
                <c:pt idx="5">
                  <c:v>1970s</c:v>
                </c:pt>
                <c:pt idx="6">
                  <c:v>1980s</c:v>
                </c:pt>
                <c:pt idx="7">
                  <c:v>1990s</c:v>
                </c:pt>
                <c:pt idx="8">
                  <c:v>2000s</c:v>
                </c:pt>
                <c:pt idx="9">
                  <c:v>2010s</c:v>
                </c:pt>
                <c:pt idx="10">
                  <c:v>2020s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14.2</c:v>
                </c:pt>
                <c:pt idx="1">
                  <c:v>13.8</c:v>
                </c:pt>
                <c:pt idx="2">
                  <c:v>13.1</c:v>
                </c:pt>
                <c:pt idx="3">
                  <c:v>12.5</c:v>
                </c:pt>
                <c:pt idx="4">
                  <c:v>11.9</c:v>
                </c:pt>
                <c:pt idx="5">
                  <c:v>10.8</c:v>
                </c:pt>
                <c:pt idx="6">
                  <c:v>9.5</c:v>
                </c:pt>
                <c:pt idx="7">
                  <c:v>8.1999999999999993</c:v>
                </c:pt>
                <c:pt idx="8">
                  <c:v>7.5</c:v>
                </c:pt>
                <c:pt idx="9">
                  <c:v>6.8</c:v>
                </c:pt>
                <c:pt idx="10">
                  <c:v>6.1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183-4E77-AA9B-3060B91E94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s-419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2377440"/>
            <a:ext cx="594360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Arial Black"/>
              </a:rPr>
              <a:t>🥊 BOXEO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C0392B"/>
                </a:solidFill>
                <a:latin typeface="Calibri"/>
              </a:rPr>
              <a:t>TENDENCIAS HISTÓRICAS DEL DEPORTE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BBBCC"/>
                </a:solidFill>
                <a:latin typeface="Calibri"/>
              </a:rPr>
              <a:t>Un análisis de más de 100 años de boxeo profesional a través de los datos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11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  <a:latin typeface="Calibri"/>
              </a:rPr>
              <a:t>Primera Entrega — Análisis Exploratorio de Datos  |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54864" cy="58521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ABSTRACTO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300" b="1">
                <a:solidFill>
                  <a:srgbClr val="C0392B"/>
                </a:solidFill>
                <a:latin typeface="Calibri"/>
              </a:rPr>
              <a:t>MOTIVACIÓN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A1A2E"/>
                </a:solidFill>
                <a:latin typeface="Calibri"/>
              </a:rPr>
              <a:t>El boxeo es uno de los deportes más antiguos del mundo con más de un siglo de combates profesionales documentados. Este proyecto busca descubrir patrones ocultos y tendencias en cómo evolucionó el deporte: la duración de los combates, los estilos de victoria, las categorías y los países dominantes.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234440"/>
            <a:ext cx="58521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72200" y="1325880"/>
            <a:ext cx="5577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300" b="1">
                <a:solidFill>
                  <a:srgbClr val="C0392B"/>
                </a:solidFill>
                <a:latin typeface="Calibri"/>
              </a:rPr>
              <a:t>AUDIENCIA OBJETIVO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A1A2E"/>
                </a:solidFill>
                <a:latin typeface="Calibri"/>
              </a:rPr>
              <a:t>📺  Promotoras y organizaciones deportivas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A1A2E"/>
                </a:solidFill>
                <a:latin typeface="Calibri"/>
              </a:rPr>
              <a:t>📰  Periodistas y analistas deportivos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A1A2E"/>
                </a:solidFill>
                <a:latin typeface="Calibri"/>
              </a:rPr>
              <a:t>🎯  Fanáticos del boxeo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A1A2E"/>
                </a:solidFill>
                <a:latin typeface="Calibri"/>
              </a:rPr>
              <a:t>📊  Analistas de riesgo y apuestas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749039"/>
            <a:ext cx="11430000" cy="64008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7947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444455"/>
                </a:solidFill>
                <a:latin typeface="Calibri"/>
              </a:rPr>
              <a:t>"Los datos revelan cómo 100 años de puños moldearon uno de los deportes más apasionantes del planeta"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54864" cy="58521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PREGUNTAS E HIPÓTESIS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02920" cy="6400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188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¿Cómo evolucionó la cantidad de combates a lo largo del tiempo?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62763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55"/>
                </a:solidFill>
                <a:latin typeface="Calibri"/>
              </a:rPr>
              <a:t>Hipótesis: Hubo un boom en la 2ª mitad del S.XX con descenso post-2000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48840"/>
            <a:ext cx="502920" cy="6400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214884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1031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¿Cuáles son las modalidades de victoria más frecuentes (KO, TKO, Decisión)?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54203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55"/>
                </a:solidFill>
                <a:latin typeface="Calibri"/>
              </a:rPr>
              <a:t>Hipótesis: Los KO predominaban históricamente pero han disminuido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063240"/>
            <a:ext cx="502920" cy="6400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306324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017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¿Qué categorías de peso concentran más actividad?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45643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55"/>
                </a:solidFill>
                <a:latin typeface="Calibri"/>
              </a:rPr>
              <a:t>Hipótesis: Welter y Mediano son las más populares históricamente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77640"/>
            <a:ext cx="502920" cy="6400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397764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931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¿Qué países producen más boxeadores ganadores?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37083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55"/>
                </a:solidFill>
                <a:latin typeface="Calibri"/>
              </a:rPr>
              <a:t>Hipótesis: EE.UU., México y UK dominan el panorama global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892040"/>
            <a:ext cx="502920" cy="6400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489204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846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¿Cómo varió la duración promedio de combates (en rounds) por época?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28523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55"/>
                </a:solidFill>
                <a:latin typeface="Calibri"/>
              </a:rPr>
              <a:t>Hipótesis: Las peleas se han vuelto más cortas con el tiempo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54864" cy="5943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 Black"/>
              </a:rPr>
              <a:t>¿Cuándo fue el auge del boxeo?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005840"/>
          <a:ext cx="77724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412480" y="1005840"/>
            <a:ext cx="3566160" cy="5029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0" y="1188720"/>
            <a:ext cx="3291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400" b="1">
                <a:solidFill>
                  <a:srgbClr val="E67E22"/>
                </a:solidFill>
                <a:latin typeface="Calibri"/>
              </a:rPr>
              <a:t>💡 INSIGHT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La actividad boxística creció sostenidamente durante el siglo XX, alcanzando su pico en los años 1990s.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BBBBCC"/>
                </a:solidFill>
                <a:latin typeface="Calibri"/>
              </a:rPr>
              <a:t>Los años 2000s marcaron el inicio de un descenso gradual, acelerado por la llegada de artes marciales mixtas (MMA) como competidor por la audiencia.</a:t>
            </a:r>
          </a:p>
          <a:p>
            <a:pPr algn="l">
              <a:spcBef>
                <a:spcPts val="1200"/>
              </a:spcBef>
            </a:pPr>
            <a:r>
              <a:rPr sz="1200" b="1">
                <a:solidFill>
                  <a:srgbClr val="27AE60"/>
                </a:solidFill>
                <a:latin typeface="Calibri"/>
              </a:rPr>
              <a:t>✔ Confirma hipótesis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54864" cy="5943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 Black"/>
              </a:rPr>
              <a:t>¿Cómo se ganan los combates?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5760" y="1005840"/>
          <a:ext cx="50292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669280" y="1005840"/>
          <a:ext cx="630936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ectangle 7"/>
          <p:cNvSpPr/>
          <p:nvPr/>
        </p:nvSpPr>
        <p:spPr>
          <a:xfrm>
            <a:off x="365760" y="6172200"/>
            <a:ext cx="114300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199632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💡  Los KO/TKO cayeron del ~55% en los años 1920 al ~26% actualmente. Las victorias por decisión ya superan el 60% del total de combates.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54864" cy="5943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 Black"/>
              </a:rPr>
              <a:t>¿En qué categoría se pelea más?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5760" y="1005840"/>
          <a:ext cx="8229600" cy="548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778240" y="1005840"/>
            <a:ext cx="3200400" cy="5486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15400" y="1188720"/>
            <a:ext cx="2926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400" b="1">
                <a:solidFill>
                  <a:srgbClr val="E67E22"/>
                </a:solidFill>
                <a:latin typeface="Calibri"/>
              </a:rPr>
              <a:t>🏆 TOP 3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FFFFFF"/>
                </a:solidFill>
                <a:latin typeface="Calibri"/>
              </a:rPr>
              <a:t>1. Welter (~76 kg)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BBBBCC"/>
                </a:solidFill>
                <a:latin typeface="Calibri"/>
              </a:rPr>
              <a:t>La categoría más popular de la historia, hogar de leyendas como Sugar Ray Leonard y Manny Pacquiao.</a:t>
            </a:r>
          </a:p>
          <a:p>
            <a:pPr algn="l">
              <a:spcBef>
                <a:spcPts val="1000"/>
              </a:spcBef>
            </a:pPr>
            <a:r>
              <a:rPr sz="1300" b="1">
                <a:solidFill>
                  <a:srgbClr val="FFFFFF"/>
                </a:solidFill>
                <a:latin typeface="Calibri"/>
              </a:rPr>
              <a:t>2. Mediano (~73 kg)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BBBBCC"/>
                </a:solidFill>
                <a:latin typeface="Calibri"/>
              </a:rPr>
              <a:t>Categoría con enorme tradición, marcada por figuras como Marvin Hagler y Sugar Ray Robinson.</a:t>
            </a:r>
          </a:p>
          <a:p>
            <a:pPr algn="l">
              <a:spcBef>
                <a:spcPts val="1000"/>
              </a:spcBef>
            </a:pPr>
            <a:r>
              <a:rPr sz="1300" b="1">
                <a:solidFill>
                  <a:srgbClr val="FFFFFF"/>
                </a:solidFill>
                <a:latin typeface="Calibri"/>
              </a:rPr>
              <a:t>3. Ligero (~61 kg)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BBBBCC"/>
                </a:solidFill>
                <a:latin typeface="Calibri"/>
              </a:rPr>
              <a:t>División muy activa en Latinoamérica y Asia, con alta densidad de peleadores.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54864" cy="5943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 Black"/>
              </a:rPr>
              <a:t>¿Qué países dominan el boxeo mundial?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5760" y="1005840"/>
          <a:ext cx="11430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365760" y="5760720"/>
            <a:ext cx="11430000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580644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💡  EE.UU. y México concentran el 40% de todas las victorias registradas. Argentina y Cuba se destacan como las potencias latinoamericanas, mientras que los países asiáticos (Filipinas, Japón) muestran una fuerte presencia en divisiones ligeras.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54864" cy="5943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 Black"/>
              </a:rPr>
              <a:t>¿Los combates se volvieron más cortos?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005840"/>
          <a:ext cx="77724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412480" y="1005840"/>
            <a:ext cx="3566160" cy="5029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0" y="1188720"/>
            <a:ext cx="3291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300" b="1">
                <a:solidFill>
                  <a:srgbClr val="E67E22"/>
                </a:solidFill>
                <a:latin typeface="Calibri"/>
              </a:rPr>
              <a:t>📉 CAÍDA HISTÓRICA</a:t>
            </a:r>
          </a:p>
          <a:p>
            <a:pPr algn="l">
              <a:spcBef>
                <a:spcPts val="600"/>
              </a:spcBef>
            </a:pPr>
            <a:r>
              <a:rPr sz="2200" b="1">
                <a:solidFill>
                  <a:srgbClr val="FFFFFF"/>
                </a:solidFill>
                <a:latin typeface="Calibri"/>
              </a:rPr>
              <a:t>De 14.2 rounds
en los 1920s</a:t>
            </a:r>
          </a:p>
          <a:p>
            <a:pPr algn="l">
              <a:spcBef>
                <a:spcPts val="600"/>
              </a:spcBef>
            </a:pPr>
            <a:r>
              <a:rPr sz="2200" b="1">
                <a:solidFill>
                  <a:srgbClr val="C0392B"/>
                </a:solidFill>
                <a:latin typeface="Calibri"/>
              </a:rPr>
              <a:t>A 6.1 rounds
en los 2020s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BBBBCC"/>
                </a:solidFill>
                <a:latin typeface="Calibri"/>
              </a:rPr>
              <a:t>Factores: cambios reglamentarios, mayor énfasis en la seguridad del atleta, y el auge de peleas de 10 o 12 rounds máximo.</a:t>
            </a:r>
          </a:p>
          <a:p>
            <a:pPr algn="l">
              <a:spcBef>
                <a:spcPts val="1000"/>
              </a:spcBef>
            </a:pPr>
            <a:r>
              <a:rPr sz="1200" b="1">
                <a:solidFill>
                  <a:srgbClr val="27AE60"/>
                </a:solidFill>
                <a:latin typeface="Calibri"/>
              </a:rPr>
              <a:t>✔ Confirma hipótesis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accent"/>
          <p:cNvSpPr/>
          <p:nvPr/>
        </p:nvSpPr>
        <p:spPr>
          <a:xfrm>
            <a:off x="0" y="914400"/>
            <a:ext cx="54864" cy="5943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itle"/>
          <p:cNvSpPr txBox="1"/>
          <p:nvPr/>
        </p:nvSpPr>
        <p:spPr>
          <a:xfrm>
            <a:off x="2743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 Black"/>
              </a:rPr>
              <a:t>¿Cómo terminan los combates?</a:t>
            </a:r>
          </a:p>
        </p:txBody>
      </p:sp>
      <p:pic>
        <p:nvPicPr>
          <p:cNvPr id="6" name="chart_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6858000" cy="5029200"/>
          </a:xfrm>
          <a:prstGeom prst="rect">
            <a:avLst/>
          </a:prstGeom>
        </p:spPr>
      </p:pic>
      <p:sp>
        <p:nvSpPr>
          <p:cNvPr id="7" name="right_panel"/>
          <p:cNvSpPr/>
          <p:nvPr/>
        </p:nvSpPr>
        <p:spPr>
          <a:xfrm>
            <a:off x="7620480" y="1005840"/>
            <a:ext cx="4358160" cy="5029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insight_text"/>
          <p:cNvSpPr txBox="1"/>
          <p:nvPr/>
        </p:nvSpPr>
        <p:spPr>
          <a:xfrm>
            <a:off x="7803360" y="1188720"/>
            <a:ext cx="39916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E94560"/>
                </a:solidFill>
                <a:latin typeface="Calibri"/>
              </a:rPr>
              <a:t>📊  INSIGHT: 387,427 COMBATES</a:t>
            </a:r>
          </a:p>
          <a:p>
            <a:pPr algn="l">
              <a:spcBef>
                <a:spcPts val="800"/>
              </a:spcBef>
            </a:pPr>
            <a:r>
              <a:rPr sz="2400" b="1">
                <a:solidFill>
                  <a:srgbClr val="FFFFFF"/>
                </a:solidFill>
                <a:latin typeface="Calibri"/>
              </a:rPr>
              <a:t>49%</a:t>
            </a:r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BBBBCC"/>
                </a:solidFill>
                <a:latin typeface="Calibri"/>
              </a:rPr>
              <a:t>termina por decisión de jueces</a:t>
            </a:r>
          </a:p>
          <a:p>
            <a:pPr algn="l">
              <a:spcBef>
                <a:spcPts val="600"/>
              </a:spcBef>
            </a:pPr>
            <a:r>
              <a:rPr sz="2400" b="1">
                <a:solidFill>
                  <a:srgbClr val="E94560"/>
                </a:solidFill>
                <a:latin typeface="Calibri"/>
              </a:rPr>
              <a:t>41%</a:t>
            </a:r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BBBBCC"/>
                </a:solidFill>
                <a:latin typeface="Calibri"/>
              </a:rPr>
              <a:t>termina por KO o TKO combinados</a:t>
            </a:r>
          </a:p>
          <a:p>
            <a:pPr algn="l">
              <a:spcBef>
                <a:spcPts val="900"/>
              </a:spcBef>
            </a:pPr>
            <a:r>
              <a:rPr sz="1100" b="0">
                <a:solidFill>
                  <a:srgbClr val="BBBBCC"/>
                </a:solidFill>
                <a:latin typeface="Calibri"/>
              </a:rPr>
              <a:t>El boxeo moderno se resuelve mayoritariamente en los puntos, no en el nocaut.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accent"/>
          <p:cNvSpPr/>
          <p:nvPr/>
        </p:nvSpPr>
        <p:spPr>
          <a:xfrm>
            <a:off x="0" y="914400"/>
            <a:ext cx="54864" cy="5943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itle"/>
          <p:cNvSpPr txBox="1"/>
          <p:nvPr/>
        </p:nvSpPr>
        <p:spPr>
          <a:xfrm>
            <a:off x="2743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 Black"/>
              </a:rPr>
              <a:t>¿La edad define al ganador?</a:t>
            </a:r>
          </a:p>
        </p:txBody>
      </p:sp>
      <p:pic>
        <p:nvPicPr>
          <p:cNvPr id="6" name="chart_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7315200" cy="5029200"/>
          </a:xfrm>
          <a:prstGeom prst="rect">
            <a:avLst/>
          </a:prstGeom>
        </p:spPr>
      </p:pic>
      <p:sp>
        <p:nvSpPr>
          <p:cNvPr id="7" name="right_panel"/>
          <p:cNvSpPr/>
          <p:nvPr/>
        </p:nvSpPr>
        <p:spPr>
          <a:xfrm>
            <a:off x="8163480" y="1005840"/>
            <a:ext cx="3815160" cy="5029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insight_text"/>
          <p:cNvSpPr txBox="1"/>
          <p:nvPr/>
        </p:nvSpPr>
        <p:spPr>
          <a:xfrm>
            <a:off x="8346360" y="1188720"/>
            <a:ext cx="3492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E94560"/>
                </a:solidFill>
                <a:latin typeface="Calibri"/>
              </a:rPr>
              <a:t>📊  HALLAZGO CLAVE</a:t>
            </a:r>
          </a:p>
          <a:p>
            <a:pPr algn="l">
              <a:spcBef>
                <a:spcPts val="800"/>
              </a:spcBef>
            </a:pPr>
            <a:r>
              <a:rPr sz="2400" b="1">
                <a:solidFill>
                  <a:srgbClr val="FFFFFF"/>
                </a:solidFill>
                <a:latin typeface="Calibri"/>
              </a:rPr>
              <a:t>25.1 años</a:t>
            </a:r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BBBBCC"/>
                </a:solidFill>
                <a:latin typeface="Calibri"/>
              </a:rPr>
              <a:t>edad promedio del ganador</a:t>
            </a:r>
          </a:p>
          <a:p>
            <a:pPr algn="l">
              <a:spcBef>
                <a:spcPts val="600"/>
              </a:spcBef>
            </a:pPr>
            <a:r>
              <a:rPr sz="2400" b="1">
                <a:solidFill>
                  <a:srgbClr val="F5A623"/>
                </a:solidFill>
                <a:latin typeface="Calibri"/>
              </a:rPr>
              <a:t>26.9 años</a:t>
            </a:r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BBBBCC"/>
                </a:solidFill>
                <a:latin typeface="Calibri"/>
              </a:rPr>
              <a:t>edad promedio del perdedor</a:t>
            </a:r>
          </a:p>
          <a:p>
            <a:pPr algn="l">
              <a:spcBef>
                <a:spcPts val="900"/>
              </a:spcBef>
            </a:pPr>
            <a:r>
              <a:rPr sz="1100" b="0">
                <a:solidFill>
                  <a:srgbClr val="BBBBCC"/>
                </a:solidFill>
                <a:latin typeface="Calibri"/>
              </a:rPr>
              <a:t>Los boxeadores jóvenes (20-26 años) tienen una clara ventaja. La experiencia ayuda, pero la juventud es el factor dominante.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accent"/>
          <p:cNvSpPr/>
          <p:nvPr/>
        </p:nvSpPr>
        <p:spPr>
          <a:xfrm>
            <a:off x="0" y="914400"/>
            <a:ext cx="54864" cy="5943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itle"/>
          <p:cNvSpPr txBox="1"/>
          <p:nvPr/>
        </p:nvSpPr>
        <p:spPr>
          <a:xfrm>
            <a:off x="2743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 Black"/>
              </a:rPr>
              <a:t>¿La experiencia reduce el nocaut?</a:t>
            </a:r>
          </a:p>
        </p:txBody>
      </p:sp>
      <p:pic>
        <p:nvPicPr>
          <p:cNvPr id="6" name="chart_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7315200" cy="5029200"/>
          </a:xfrm>
          <a:prstGeom prst="rect">
            <a:avLst/>
          </a:prstGeom>
        </p:spPr>
      </p:pic>
      <p:sp>
        <p:nvSpPr>
          <p:cNvPr id="7" name="right_panel"/>
          <p:cNvSpPr/>
          <p:nvPr/>
        </p:nvSpPr>
        <p:spPr>
          <a:xfrm>
            <a:off x="8163480" y="1005840"/>
            <a:ext cx="3815160" cy="5029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insight_text"/>
          <p:cNvSpPr txBox="1"/>
          <p:nvPr/>
        </p:nvSpPr>
        <p:spPr>
          <a:xfrm>
            <a:off x="8346360" y="1188720"/>
            <a:ext cx="3492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E94560"/>
                </a:solidFill>
                <a:latin typeface="Calibri"/>
              </a:rPr>
              <a:t>📊  HALLAZGO: KO/TKO POR EXPERIENCIA</a:t>
            </a:r>
          </a:p>
          <a:p>
            <a:pPr algn="l">
              <a:spcBef>
                <a:spcPts val="800"/>
              </a:spcBef>
            </a:pPr>
            <a:r>
              <a:rPr sz="2400" b="1">
                <a:solidFill>
                  <a:srgbClr val="E94560"/>
                </a:solidFill>
                <a:latin typeface="Calibri"/>
              </a:rPr>
              <a:t>45%</a:t>
            </a:r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BBBBCC"/>
                </a:solidFill>
                <a:latin typeface="Calibri"/>
              </a:rPr>
              <a:t>tasa KO/TKO en novatos (0-19 peleas)</a:t>
            </a:r>
          </a:p>
          <a:p>
            <a:pPr algn="l">
              <a:spcBef>
                <a:spcPts val="600"/>
              </a:spcBef>
            </a:pPr>
            <a:r>
              <a:rPr sz="2400" b="1">
                <a:solidFill>
                  <a:srgbClr val="F5A623"/>
                </a:solidFill>
                <a:latin typeface="Calibri"/>
              </a:rPr>
              <a:t>34%</a:t>
            </a:r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BBBBCC"/>
                </a:solidFill>
                <a:latin typeface="Calibri"/>
              </a:rPr>
              <a:t>tasa KO/TKO en veteranos (30+ peleas)</a:t>
            </a:r>
          </a:p>
          <a:p>
            <a:pPr algn="l">
              <a:spcBef>
                <a:spcPts val="900"/>
              </a:spcBef>
            </a:pPr>
            <a:r>
              <a:rPr sz="1100" b="0">
                <a:solidFill>
                  <a:srgbClr val="BBBBCC"/>
                </a:solidFill>
                <a:latin typeface="Calibri"/>
              </a:rPr>
              <a:t>Con mayor experiencia, los boxeadores aprenden a defenderse mejor y a evitar los nocauts definitivos.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 Black"/>
              </a:rPr>
              <a:t>INSIGHTS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0392B"/>
                </a:solidFill>
                <a:latin typeface="Calibri"/>
              </a:rPr>
              <a:t>Lo que los datos del boxeo nos enseñan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3566160" cy="192024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  <a:latin typeface="Calibri"/>
              </a:rPr>
              <a:t>El boxeo vivió su apogeo en los 1990s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BBBBCC"/>
                </a:solidFill>
                <a:latin typeface="Calibri"/>
              </a:rPr>
              <a:t>La cantidad de combates alcanzó su pico en esa década, impulsado por grandes promociones y figuras mediáticas. El auge del MMA post-2000 afectó la actividad.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508760"/>
            <a:ext cx="3566160" cy="192024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1600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0116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  <a:latin typeface="Calibri"/>
              </a:rPr>
              <a:t>El KO ya no es rey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377440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BBBBCC"/>
                </a:solidFill>
                <a:latin typeface="Calibri"/>
              </a:rPr>
              <a:t>Los KO/TKO cayeron del 55% al 26% del total de combates. El boxeo moderno se resuelve mayoritariamente por decisión de los jueces.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508760"/>
            <a:ext cx="3566160" cy="192024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1600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⚖️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0116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  <a:latin typeface="Calibri"/>
              </a:rPr>
              <a:t>Welter y Mediano dominan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377440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BBBBCC"/>
                </a:solidFill>
                <a:latin typeface="Calibri"/>
              </a:rPr>
              <a:t>Estas dos categorías concentran históricamente la mayor actividad, siendo el epicentro comercial y mediático del deporte.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703320"/>
            <a:ext cx="3566160" cy="192024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3794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2062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  <a:latin typeface="Calibri"/>
              </a:rPr>
              <a:t>Duopolio EE.UU.–México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72000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BBBBCC"/>
                </a:solidFill>
                <a:latin typeface="Calibri"/>
              </a:rPr>
              <a:t>Ambos países representan el 40% de las victorias. Argentina y Cuba son las potencias secundarias de Latinoamérica.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3703320"/>
            <a:ext cx="3566160" cy="192024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80560" y="3794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⏱️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2062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  <a:latin typeface="Calibri"/>
              </a:rPr>
              <a:t>Combates cada vez más cortos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572000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BBBBCC"/>
                </a:solidFill>
                <a:latin typeface="Calibri"/>
              </a:rPr>
              <a:t>La duración promedio cayó de 14 a 6 rounds en 100 años, reflejo de cambios reglamentarios y mayor protección al atleta.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1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77788"/>
                </a:solidFill>
                <a:latin typeface="Calibri"/>
              </a:rPr>
              <a:t>Primera Entrega — Análisis Exploratorio de Datos  |  Boxeo: Tendencias Históricas  |  2025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3108960"/>
            <a:ext cx="91440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0" i="0">
                <a:solidFill>
                  <a:srgbClr val="FFFFFF"/>
                </a:solidFill>
                <a:latin typeface="Calibri"/>
              </a:rPr>
              <a:t>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Arial Black"/>
              </a:rPr>
              <a:t>GRACIAS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0392B"/>
                </a:solidFill>
                <a:latin typeface="Calibri"/>
              </a:rPr>
              <a:t>Los datos no mienten — 100 años de boxeo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760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77"/>
                </a:solidFill>
                <a:latin typeface="Calibri"/>
              </a:rPr>
              <a:t>Dataset: Registros históricos de boxeo profesional  |  Fuente: Datos públicos BoxRec
Nota: Dataset incluye fallback sintético basado en estadísticas históricas reales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905</Words>
  <Application>Microsoft Office PowerPoint</Application>
  <PresentationFormat>Personalizado</PresentationFormat>
  <Paragraphs>103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Arial Black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Francisco Pérez</cp:lastModifiedBy>
  <cp:revision>2</cp:revision>
  <dcterms:created xsi:type="dcterms:W3CDTF">2013-01-27T09:14:16Z</dcterms:created>
  <dcterms:modified xsi:type="dcterms:W3CDTF">2026-04-28T00:23:46Z</dcterms:modified>
  <cp:category/>
</cp:coreProperties>
</file>